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hu-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>
        <p:scale>
          <a:sx n="100" d="100"/>
          <a:sy n="100" d="100"/>
        </p:scale>
        <p:origin x="126" y="4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20059164-FE24-4030-8C1C-962F2D049F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D1E2C12A-75E1-4F72-B825-FA90345C57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u-HU"/>
              <a:t>Kattintson ide az alcím mintájának szerkesztéséhez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DFF3D42E-4CD1-44E8-A3A3-971EBE77D2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4D9DE3-5E6C-4223-B6F3-D47F9A707926}" type="datetimeFigureOut">
              <a:rPr lang="hu-HU" smtClean="0"/>
              <a:t>2026.04.29.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853067A6-3263-4809-885E-99DDC28649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30503245-635B-48FB-93B7-8F0D748ADF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FD6CC2-1C77-44BD-A41E-2E20DB18D6DB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6761007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C2C4B6EF-627A-4848-932D-26CE1C6737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7E804CCE-0884-4441-B4CF-8E0ECC4BFD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EC50E3B7-A3E4-4E6A-B89F-155886BA28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4D9DE3-5E6C-4223-B6F3-D47F9A707926}" type="datetimeFigureOut">
              <a:rPr lang="hu-HU" smtClean="0"/>
              <a:t>2026.04.29.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4198A898-3FAC-4C25-8757-8D31415796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661E1856-AA48-4421-ABBD-C91CE3254A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FD6CC2-1C77-44BD-A41E-2E20DB18D6DB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6876568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79D1AA12-A097-463A-9815-3DB8BCEDA8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8D73B045-0139-472D-A40E-5CCDF7C994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BA848891-7863-4018-81BB-4C0E5D048B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4D9DE3-5E6C-4223-B6F3-D47F9A707926}" type="datetimeFigureOut">
              <a:rPr lang="hu-HU" smtClean="0"/>
              <a:t>2026.04.29.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0CC3FF87-1044-4B1D-99D4-09C418FA99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13254D2F-01FA-456F-B0D8-6A5A0B94EF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FD6CC2-1C77-44BD-A41E-2E20DB18D6DB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861362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08641372-386E-4009-AE3B-94AB2B8EE7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DD90E304-E360-4F4E-93AE-DA316EB59E1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D1C16492-856D-4B1C-B46B-028A257DAD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3C75223A-3D74-4806-882E-C840B9A267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4D9DE3-5E6C-4223-B6F3-D47F9A707926}" type="datetimeFigureOut">
              <a:rPr lang="hu-HU" smtClean="0"/>
              <a:t>2026.04.29.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147EB7D8-6C1F-477E-9BAC-561E28ACD6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89DB5772-9211-4C5A-86D2-56CE055300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FD6CC2-1C77-44BD-A41E-2E20DB18D6DB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6062795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E566B3DC-9C40-415F-B1CA-867B582AB4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DA199E62-E9CB-4458-818B-2F5C737C0F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62FC994A-EE43-4BDC-B6EA-AF7B4729DE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id="{A1D27C4E-1355-450E-BF46-B21636E36D5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Tartalom helye 5">
            <a:extLst>
              <a:ext uri="{FF2B5EF4-FFF2-40B4-BE49-F238E27FC236}">
                <a16:creationId xmlns:a16="http://schemas.microsoft.com/office/drawing/2014/main" id="{C2269748-D1C7-460B-A605-DD5480FD617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7" name="Dátum helye 6">
            <a:extLst>
              <a:ext uri="{FF2B5EF4-FFF2-40B4-BE49-F238E27FC236}">
                <a16:creationId xmlns:a16="http://schemas.microsoft.com/office/drawing/2014/main" id="{A5CA048D-8E38-486E-A914-E9944EF7D5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4D9DE3-5E6C-4223-B6F3-D47F9A707926}" type="datetimeFigureOut">
              <a:rPr lang="hu-HU" smtClean="0"/>
              <a:t>2026.04.29.</a:t>
            </a:fld>
            <a:endParaRPr lang="hu-HU"/>
          </a:p>
        </p:txBody>
      </p:sp>
      <p:sp>
        <p:nvSpPr>
          <p:cNvPr id="8" name="Élőláb helye 7">
            <a:extLst>
              <a:ext uri="{FF2B5EF4-FFF2-40B4-BE49-F238E27FC236}">
                <a16:creationId xmlns:a16="http://schemas.microsoft.com/office/drawing/2014/main" id="{7928E8C0-BCCD-4CFD-9380-9345070325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Dia számának helye 8">
            <a:extLst>
              <a:ext uri="{FF2B5EF4-FFF2-40B4-BE49-F238E27FC236}">
                <a16:creationId xmlns:a16="http://schemas.microsoft.com/office/drawing/2014/main" id="{3543184D-FA28-48F4-A830-126D1936BC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FD6CC2-1C77-44BD-A41E-2E20DB18D6DB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190680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F42180AC-A050-4B7C-85DE-DD260A76EE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Dátum helye 2">
            <a:extLst>
              <a:ext uri="{FF2B5EF4-FFF2-40B4-BE49-F238E27FC236}">
                <a16:creationId xmlns:a16="http://schemas.microsoft.com/office/drawing/2014/main" id="{2DE66B69-3712-49AC-BF45-9DE9B8149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4D9DE3-5E6C-4223-B6F3-D47F9A707926}" type="datetimeFigureOut">
              <a:rPr lang="hu-HU" smtClean="0"/>
              <a:t>2026.04.29.</a:t>
            </a:fld>
            <a:endParaRPr lang="hu-HU"/>
          </a:p>
        </p:txBody>
      </p:sp>
      <p:sp>
        <p:nvSpPr>
          <p:cNvPr id="4" name="Élőláb helye 3">
            <a:extLst>
              <a:ext uri="{FF2B5EF4-FFF2-40B4-BE49-F238E27FC236}">
                <a16:creationId xmlns:a16="http://schemas.microsoft.com/office/drawing/2014/main" id="{2298AA4F-E43A-428D-94F7-B78892F0E5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Dia számának helye 4">
            <a:extLst>
              <a:ext uri="{FF2B5EF4-FFF2-40B4-BE49-F238E27FC236}">
                <a16:creationId xmlns:a16="http://schemas.microsoft.com/office/drawing/2014/main" id="{E645411D-0706-4FC2-9C3F-7C34D8CDE4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FD6CC2-1C77-44BD-A41E-2E20DB18D6DB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5080907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átum helye 1">
            <a:extLst>
              <a:ext uri="{FF2B5EF4-FFF2-40B4-BE49-F238E27FC236}">
                <a16:creationId xmlns:a16="http://schemas.microsoft.com/office/drawing/2014/main" id="{5D6AEA47-340D-4ECD-984F-3D689ADE69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4D9DE3-5E6C-4223-B6F3-D47F9A707926}" type="datetimeFigureOut">
              <a:rPr lang="hu-HU" smtClean="0"/>
              <a:t>2026.04.29.</a:t>
            </a:fld>
            <a:endParaRPr lang="hu-HU"/>
          </a:p>
        </p:txBody>
      </p:sp>
      <p:sp>
        <p:nvSpPr>
          <p:cNvPr id="3" name="Élőláb helye 2">
            <a:extLst>
              <a:ext uri="{FF2B5EF4-FFF2-40B4-BE49-F238E27FC236}">
                <a16:creationId xmlns:a16="http://schemas.microsoft.com/office/drawing/2014/main" id="{89138220-014A-4EB3-BAF4-549C32729D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31A0CF68-DC72-4642-8A50-0E48A8D587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FD6CC2-1C77-44BD-A41E-2E20DB18D6DB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124335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B8B49832-66FA-477E-B8FB-70A7A02561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9A2ABBCC-3AC3-40EC-ADE8-14F1E6B3C7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4259EAD0-6BAC-4F85-9DCF-3633DB50F3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DBFF53DF-4106-46E9-91D4-10B376F1EE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4D9DE3-5E6C-4223-B6F3-D47F9A707926}" type="datetimeFigureOut">
              <a:rPr lang="hu-HU" smtClean="0"/>
              <a:t>2026.04.29.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54CFD111-42E2-466F-8356-A6D1C1333F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082E1FDE-9F0B-4EF9-BDC2-26A932096D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FD6CC2-1C77-44BD-A41E-2E20DB18D6DB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4661200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EEFA3599-C631-417D-AF70-DC7F7A59DD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Kép helye 2">
            <a:extLst>
              <a:ext uri="{FF2B5EF4-FFF2-40B4-BE49-F238E27FC236}">
                <a16:creationId xmlns:a16="http://schemas.microsoft.com/office/drawing/2014/main" id="{55B89283-1FBF-47CF-B7DF-5F896951B3B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u-HU"/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AC293776-4D2A-4CCD-A8C6-80BD28E5BE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80B7532F-9D2D-40EC-9576-D2B91895FA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4D9DE3-5E6C-4223-B6F3-D47F9A707926}" type="datetimeFigureOut">
              <a:rPr lang="hu-HU" smtClean="0"/>
              <a:t>2026.04.29.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7B1433F0-0517-4EFD-BEEF-3E99A5E5E1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7688B2C4-C5AA-453F-977B-AE0A81A6DA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FD6CC2-1C77-44BD-A41E-2E20DB18D6DB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3277255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23DBA8A7-96B1-4B48-81C3-CECA7747CF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id="{EC62B423-D2CF-41D9-B6D2-A5CB32D08B6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36F27337-0288-44C8-9D69-A43517C59A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4D9DE3-5E6C-4223-B6F3-D47F9A707926}" type="datetimeFigureOut">
              <a:rPr lang="hu-HU" smtClean="0"/>
              <a:t>2026.04.29.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5C2CAE2F-7CF1-467F-8FCE-40A69EB5F1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F5399977-2EE1-4AF9-A139-10BB551BF9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FD6CC2-1C77-44BD-A41E-2E20DB18D6DB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1799259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üggőleges cím 1">
            <a:extLst>
              <a:ext uri="{FF2B5EF4-FFF2-40B4-BE49-F238E27FC236}">
                <a16:creationId xmlns:a16="http://schemas.microsoft.com/office/drawing/2014/main" id="{187BA6D4-04B6-4A9C-B8A1-A719AF2CFB0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id="{683B0F73-BEFB-47AC-8294-52C71D429A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3E425F50-2FB4-4A30-BCA7-A18ADE870B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4D9DE3-5E6C-4223-B6F3-D47F9A707926}" type="datetimeFigureOut">
              <a:rPr lang="hu-HU" smtClean="0"/>
              <a:t>2026.04.29.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F60E4A74-FA63-4CAB-8794-2D2EE657E8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7B723F81-5ED0-465D-BE7E-D6F42D5577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FD6CC2-1C77-44BD-A41E-2E20DB18D6DB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9468527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l="-6000" r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helye 1">
            <a:extLst>
              <a:ext uri="{FF2B5EF4-FFF2-40B4-BE49-F238E27FC236}">
                <a16:creationId xmlns:a16="http://schemas.microsoft.com/office/drawing/2014/main" id="{48BE3607-45F9-45DD-B686-A3CB46288C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DE000169-F466-49AF-9DA8-D1584D016E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E286D758-2ECE-4123-B26A-766906BD5FB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4D9DE3-5E6C-4223-B6F3-D47F9A707926}" type="datetimeFigureOut">
              <a:rPr lang="hu-HU" smtClean="0"/>
              <a:t>2026.04.29.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41C16234-3E7F-47B3-835B-1506DD47B05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7E829293-FB09-4BBF-9A02-1335F081A1C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FD6CC2-1C77-44BD-A41E-2E20DB18D6DB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9366099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u-H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image" Target="../media/image7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jpeg"/><Relationship Id="rId5" Type="http://schemas.openxmlformats.org/officeDocument/2006/relationships/image" Target="../media/image5.jpeg"/><Relationship Id="rId4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B3FF7ED7-5743-4661-8837-3E9E6AE0A12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hu-HU" b="1" dirty="0">
                <a:latin typeface="Arial Black" panose="020B0A04020102020204" pitchFamily="34" charset="0"/>
              </a:rPr>
              <a:t>Projekt feladat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DBCF9E9C-5E45-4494-A794-28ACC64BA2E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endParaRPr lang="hu-HU" sz="2800" b="1" dirty="0">
              <a:latin typeface="Arial Black" panose="020B0A04020102020204" pitchFamily="34" charset="0"/>
            </a:endParaRPr>
          </a:p>
          <a:p>
            <a:r>
              <a:rPr lang="hu-HU" sz="2800" b="1" dirty="0">
                <a:latin typeface="Arial Black" panose="020B0A04020102020204" pitchFamily="34" charset="0"/>
              </a:rPr>
              <a:t>Miniatűr időjárás állomás</a:t>
            </a:r>
          </a:p>
        </p:txBody>
      </p:sp>
    </p:spTree>
    <p:extLst>
      <p:ext uri="{BB962C8B-B14F-4D97-AF65-F5344CB8AC3E}">
        <p14:creationId xmlns:p14="http://schemas.microsoft.com/office/powerpoint/2010/main" val="32262538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012E8F1C-9DF1-4F18-9126-8657572022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u-HU" sz="3600" b="1" dirty="0">
                <a:solidFill>
                  <a:schemeClr val="bg1"/>
                </a:solidFill>
                <a:latin typeface="Arial Black" panose="020B0A04020102020204" pitchFamily="34" charset="0"/>
              </a:rPr>
              <a:t>Mérő állomás elemei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D0A053D5-43AD-4737-B865-D08DA99BDE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 lnSpcReduction="10000"/>
          </a:bodyPr>
          <a:lstStyle/>
          <a:p>
            <a:pPr marL="0" indent="0">
              <a:spcBef>
                <a:spcPts val="1200"/>
              </a:spcBef>
              <a:spcAft>
                <a:spcPts val="1200"/>
              </a:spcAft>
              <a:buNone/>
            </a:pPr>
            <a:r>
              <a:rPr lang="hu-HU" sz="2400" b="1" dirty="0">
                <a:latin typeface="Arial Black" panose="020B0A04020102020204" pitchFamily="34" charset="0"/>
              </a:rPr>
              <a:t>A mérőállomás egyszerű alkatrészekből áll</a:t>
            </a:r>
          </a:p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hu-HU" sz="2400" b="1" dirty="0">
                <a:latin typeface="Arial Black" panose="020B0A04020102020204" pitchFamily="34" charset="0"/>
              </a:rPr>
              <a:t>MCU (EPS32-S2-MINI)</a:t>
            </a:r>
          </a:p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hu-HU" sz="2400" b="1" dirty="0">
                <a:latin typeface="Arial Black" panose="020B0A04020102020204" pitchFamily="34" charset="0"/>
              </a:rPr>
              <a:t>Szenzorok (BMP280, ENS160, EHT21, GY-301)</a:t>
            </a:r>
          </a:p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hu-HU" sz="2400" b="1" dirty="0">
                <a:latin typeface="Arial Black" panose="020B0A04020102020204" pitchFamily="34" charset="0"/>
              </a:rPr>
              <a:t>Szalagkábelek </a:t>
            </a:r>
          </a:p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hu-HU" sz="2400" b="1" dirty="0">
                <a:latin typeface="Arial Black" panose="020B0A04020102020204" pitchFamily="34" charset="0"/>
              </a:rPr>
              <a:t>Próbapanel</a:t>
            </a:r>
          </a:p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hu-HU" sz="2400" b="1" dirty="0">
                <a:latin typeface="Arial Black" panose="020B0A04020102020204" pitchFamily="34" charset="0"/>
              </a:rPr>
              <a:t>Ellenállások, kondenzátorok</a:t>
            </a:r>
          </a:p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hu-HU" sz="2400" b="1" dirty="0">
                <a:latin typeface="Arial Black" panose="020B0A04020102020204" pitchFamily="34" charset="0"/>
              </a:rPr>
              <a:t>Kijelző, gombok</a:t>
            </a:r>
          </a:p>
          <a:p>
            <a:pPr>
              <a:spcBef>
                <a:spcPts val="1200"/>
              </a:spcBef>
              <a:spcAft>
                <a:spcPts val="1200"/>
              </a:spcAft>
            </a:pPr>
            <a:endParaRPr lang="hu-HU" sz="2400" b="1" dirty="0">
              <a:latin typeface="Arial Black" panose="020B0A04020102020204" pitchFamily="34" charset="0"/>
            </a:endParaRPr>
          </a:p>
        </p:txBody>
      </p:sp>
      <p:pic>
        <p:nvPicPr>
          <p:cNvPr id="2050" name="Picture 2" descr="ENS160+AHT21-M / Levegőminőség, hőmérséklet és páratartalom érzékelő modul, CO2, eCO2, TVOC, AQL">
            <a:extLst>
              <a:ext uri="{FF2B5EF4-FFF2-40B4-BE49-F238E27FC236}">
                <a16:creationId xmlns:a16="http://schemas.microsoft.com/office/drawing/2014/main" id="{3B20B302-1703-4588-9FA5-B6C9449589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22000" y="3546237"/>
            <a:ext cx="955675" cy="955675"/>
          </a:xfrm>
          <a:prstGeom prst="rect">
            <a:avLst/>
          </a:prstGeom>
          <a:noFill/>
          <a:effectLst>
            <a:softEdge rad="381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ESP32-S2-MINI-PSRAM / ESP32-S2FN4R2 alapú fejlesztő panel PSRAM-mal, USB-C, Xtensa® Single-Core 32-bit LX7, 240MHz">
            <a:extLst>
              <a:ext uri="{FF2B5EF4-FFF2-40B4-BE49-F238E27FC236}">
                <a16:creationId xmlns:a16="http://schemas.microsoft.com/office/drawing/2014/main" id="{C09C9DCE-91FC-4D1D-A6FB-CB813A4D50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29390" y="1204357"/>
            <a:ext cx="2095500" cy="2095500"/>
          </a:xfrm>
          <a:prstGeom prst="rect">
            <a:avLst/>
          </a:prstGeom>
          <a:noFill/>
          <a:effectLst>
            <a:softEdge rad="63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BMP280-M / BMP280 hőmérséklet, légnyomás és magasság mérő modul (GY-BMP280-3.3)">
            <a:extLst>
              <a:ext uri="{FF2B5EF4-FFF2-40B4-BE49-F238E27FC236}">
                <a16:creationId xmlns:a16="http://schemas.microsoft.com/office/drawing/2014/main" id="{42B7AB58-D830-4597-B7B6-1AF7D98448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54444" y="5315585"/>
            <a:ext cx="1245393" cy="996315"/>
          </a:xfrm>
          <a:prstGeom prst="rect">
            <a:avLst/>
          </a:prstGeom>
          <a:noFill/>
          <a:effectLst>
            <a:softEdge rad="889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 descr="GY-302 / BH1750 alapú környezeti fényérzékelő modul">
            <a:extLst>
              <a:ext uri="{FF2B5EF4-FFF2-40B4-BE49-F238E27FC236}">
                <a16:creationId xmlns:a16="http://schemas.microsoft.com/office/drawing/2014/main" id="{F305BAF9-B459-44EF-A069-A640E28ED7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88097" y="5064920"/>
            <a:ext cx="1179512" cy="1179512"/>
          </a:xfrm>
          <a:prstGeom prst="rect">
            <a:avLst/>
          </a:prstGeom>
          <a:noFill/>
          <a:effectLst>
            <a:softEdge rad="63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8" name="Picture 10" descr="BB-170SW / Próbapanel 170p, ében fekete">
            <a:extLst>
              <a:ext uri="{FF2B5EF4-FFF2-40B4-BE49-F238E27FC236}">
                <a16:creationId xmlns:a16="http://schemas.microsoft.com/office/drawing/2014/main" id="{F7166ACC-6B0B-4848-A18D-7FBCE1D8E4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54739" y="3558143"/>
            <a:ext cx="1179512" cy="884634"/>
          </a:xfrm>
          <a:prstGeom prst="rect">
            <a:avLst/>
          </a:prstGeom>
          <a:noFill/>
          <a:effectLst>
            <a:softEdge rad="381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2" name="Picture 14" descr="D096-12864-SPI7 / 0.96in 128x64 OLED, SPI interfész 7P, SSD1306">
            <a:extLst>
              <a:ext uri="{FF2B5EF4-FFF2-40B4-BE49-F238E27FC236}">
                <a16:creationId xmlns:a16="http://schemas.microsoft.com/office/drawing/2014/main" id="{97484E6E-6F5B-411D-98BF-F3A56EC050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41597" y="3901274"/>
            <a:ext cx="1179512" cy="1083006"/>
          </a:xfrm>
          <a:prstGeom prst="rect">
            <a:avLst/>
          </a:prstGeom>
          <a:noFill/>
          <a:effectLst>
            <a:softEdge rad="63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045926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14AB11D9-507F-4045-A738-489D2885A0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u-HU" sz="3600" b="1" dirty="0">
                <a:solidFill>
                  <a:schemeClr val="bg1"/>
                </a:solidFill>
                <a:latin typeface="Arial Black" panose="020B0A04020102020204" pitchFamily="34" charset="0"/>
              </a:rPr>
              <a:t>Állomás feladatai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7A2C9956-E38F-4DBE-95D9-5A25D3AD08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hu-HU" dirty="0">
                <a:latin typeface="Arial Black" panose="020B0A04020102020204" pitchFamily="34" charset="0"/>
              </a:rPr>
              <a:t>Szenzor értékek olvasása</a:t>
            </a:r>
          </a:p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hu-HU" dirty="0">
                <a:latin typeface="Arial Black" panose="020B0A04020102020204" pitchFamily="34" charset="0"/>
              </a:rPr>
              <a:t>Értékek tárolása</a:t>
            </a:r>
          </a:p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hu-HU" dirty="0">
                <a:latin typeface="Arial Black" panose="020B0A04020102020204" pitchFamily="34" charset="0"/>
              </a:rPr>
              <a:t>Internet elérése (Wifi)</a:t>
            </a:r>
          </a:p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hu-HU" dirty="0">
                <a:latin typeface="Arial Black" panose="020B0A04020102020204" pitchFamily="34" charset="0"/>
              </a:rPr>
              <a:t>Adatküldés (</a:t>
            </a:r>
            <a:r>
              <a:rPr lang="hu-HU" dirty="0" err="1">
                <a:latin typeface="Arial Black" panose="020B0A04020102020204" pitchFamily="34" charset="0"/>
              </a:rPr>
              <a:t>Supabase</a:t>
            </a:r>
            <a:r>
              <a:rPr lang="hu-HU" dirty="0">
                <a:latin typeface="Arial Black" panose="020B0A04020102020204" pitchFamily="34" charset="0"/>
              </a:rPr>
              <a:t> adatbázis)</a:t>
            </a:r>
          </a:p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hu-HU" dirty="0">
                <a:latin typeface="Arial Black" panose="020B0A04020102020204" pitchFamily="34" charset="0"/>
              </a:rPr>
              <a:t>Idő és dátum nyilvántartása (NTP-SNTP, RTC)</a:t>
            </a:r>
          </a:p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hu-HU" dirty="0">
                <a:latin typeface="Arial Black" panose="020B0A04020102020204" pitchFamily="34" charset="0"/>
              </a:rPr>
              <a:t>Alvás – felkeltés (Deep </a:t>
            </a:r>
            <a:r>
              <a:rPr lang="hu-HU" dirty="0" err="1">
                <a:latin typeface="Arial Black" panose="020B0A04020102020204" pitchFamily="34" charset="0"/>
              </a:rPr>
              <a:t>sleep</a:t>
            </a:r>
            <a:r>
              <a:rPr lang="hu-HU" dirty="0">
                <a:latin typeface="Arial Black" panose="020B0A04020102020204" pitchFamily="34" charset="0"/>
              </a:rPr>
              <a:t> </a:t>
            </a:r>
            <a:r>
              <a:rPr lang="hu-HU" dirty="0" err="1">
                <a:latin typeface="Arial Black" panose="020B0A04020102020204" pitchFamily="34" charset="0"/>
              </a:rPr>
              <a:t>mode</a:t>
            </a:r>
            <a:r>
              <a:rPr lang="hu-HU" dirty="0">
                <a:latin typeface="Arial Black" panose="020B0A04020102020204" pitchFamily="34" charset="0"/>
              </a:rPr>
              <a:t>)</a:t>
            </a:r>
          </a:p>
          <a:p>
            <a:pPr>
              <a:spcBef>
                <a:spcPts val="1200"/>
              </a:spcBef>
              <a:spcAft>
                <a:spcPts val="1200"/>
              </a:spcAft>
            </a:pPr>
            <a:endParaRPr lang="hu-HU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4193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847E1FEA-09C4-48D4-98E8-083533A297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u-HU" sz="3600" dirty="0">
                <a:solidFill>
                  <a:schemeClr val="bg1"/>
                </a:solidFill>
                <a:latin typeface="Arial Black" panose="020B0A04020102020204" pitchFamily="34" charset="0"/>
              </a:rPr>
              <a:t>Szenzor olvasás és adattárolás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9F770578-1B36-4752-92F5-E97D5EA732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825625"/>
            <a:ext cx="5257800" cy="4351338"/>
          </a:xfrm>
        </p:spPr>
        <p:txBody>
          <a:bodyPr/>
          <a:lstStyle/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hu-HU" b="1" dirty="0">
                <a:latin typeface="Arial Black" panose="020B0A04020102020204" pitchFamily="34" charset="0"/>
              </a:rPr>
              <a:t>I2C kapcsolat</a:t>
            </a:r>
          </a:p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hu-HU" b="1" dirty="0">
                <a:latin typeface="Arial Black" panose="020B0A04020102020204" pitchFamily="34" charset="0"/>
              </a:rPr>
              <a:t>Mérések frekvenciája</a:t>
            </a:r>
          </a:p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hu-HU" b="1" dirty="0">
                <a:latin typeface="Arial Black" panose="020B0A04020102020204" pitchFamily="34" charset="0"/>
              </a:rPr>
              <a:t>Nyers adatok kiolvasása</a:t>
            </a:r>
          </a:p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hu-HU" b="1" dirty="0">
                <a:latin typeface="Arial Black" panose="020B0A04020102020204" pitchFamily="34" charset="0"/>
              </a:rPr>
              <a:t>Konverzió</a:t>
            </a:r>
          </a:p>
        </p:txBody>
      </p:sp>
      <p:sp>
        <p:nvSpPr>
          <p:cNvPr id="4" name="Tartalom helye 2">
            <a:extLst>
              <a:ext uri="{FF2B5EF4-FFF2-40B4-BE49-F238E27FC236}">
                <a16:creationId xmlns:a16="http://schemas.microsoft.com/office/drawing/2014/main" id="{AFDF231D-BA45-47B6-83F3-FB0329B70BA3}"/>
              </a:ext>
            </a:extLst>
          </p:cNvPr>
          <p:cNvSpPr txBox="1">
            <a:spLocks/>
          </p:cNvSpPr>
          <p:nvPr/>
        </p:nvSpPr>
        <p:spPr>
          <a:xfrm>
            <a:off x="6200775" y="1690688"/>
            <a:ext cx="536257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hu-HU" b="1" dirty="0">
                <a:latin typeface="Arial Black" panose="020B0A04020102020204" pitchFamily="34" charset="0"/>
              </a:rPr>
              <a:t>Adatok </a:t>
            </a:r>
            <a:r>
              <a:rPr lang="hu-HU" b="1" dirty="0" err="1">
                <a:latin typeface="Arial Black" panose="020B0A04020102020204" pitchFamily="34" charset="0"/>
              </a:rPr>
              <a:t>validálása</a:t>
            </a:r>
            <a:endParaRPr lang="hu-HU" b="1" dirty="0">
              <a:latin typeface="Arial Black" panose="020B0A04020102020204" pitchFamily="34" charset="0"/>
            </a:endParaRPr>
          </a:p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hu-HU" b="1" dirty="0">
                <a:latin typeface="Arial Black" panose="020B0A04020102020204" pitchFamily="34" charset="0"/>
              </a:rPr>
              <a:t>Tárolásra alkalmas struktúra</a:t>
            </a:r>
          </a:p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hu-HU" b="1" dirty="0">
                <a:latin typeface="Arial Black" panose="020B0A04020102020204" pitchFamily="34" charset="0"/>
              </a:rPr>
              <a:t>Belső tárhely használata</a:t>
            </a:r>
          </a:p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hu-HU" b="1" dirty="0">
                <a:latin typeface="Arial Black" panose="020B0A04020102020204" pitchFamily="34" charset="0"/>
              </a:rPr>
              <a:t>Adatok tárolása, visszanyerése</a:t>
            </a:r>
          </a:p>
          <a:p>
            <a:pPr>
              <a:spcBef>
                <a:spcPts val="1200"/>
              </a:spcBef>
              <a:spcAft>
                <a:spcPts val="1200"/>
              </a:spcAft>
            </a:pPr>
            <a:endParaRPr lang="hu-HU" b="1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377207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08525451-4D2B-493F-9E30-250E9F6848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u-HU" sz="3600" dirty="0">
                <a:solidFill>
                  <a:schemeClr val="bg1"/>
                </a:solidFill>
                <a:latin typeface="Arial Black" panose="020B0A04020102020204" pitchFamily="34" charset="0"/>
              </a:rPr>
              <a:t>Wifi és adatküldés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E694DFEF-B11B-4585-BF7F-67BA9D36BF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962775" cy="4351338"/>
          </a:xfrm>
        </p:spPr>
        <p:txBody>
          <a:bodyPr/>
          <a:lstStyle/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hu-HU" dirty="0">
                <a:latin typeface="Arial Black" panose="020B0A04020102020204" pitchFamily="34" charset="0"/>
              </a:rPr>
              <a:t>A beépített Wifi használata</a:t>
            </a:r>
          </a:p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hu-HU" dirty="0">
                <a:latin typeface="Arial Black" panose="020B0A04020102020204" pitchFamily="34" charset="0"/>
              </a:rPr>
              <a:t>Csatlakozás Wifihez</a:t>
            </a:r>
          </a:p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hu-HU" dirty="0" err="1">
                <a:latin typeface="Arial Black" panose="020B0A04020102020204" pitchFamily="34" charset="0"/>
              </a:rPr>
              <a:t>Batchbekben</a:t>
            </a:r>
            <a:r>
              <a:rPr lang="hu-HU" dirty="0">
                <a:latin typeface="Arial Black" panose="020B0A04020102020204" pitchFamily="34" charset="0"/>
              </a:rPr>
              <a:t> történő küldés az adatbázis felé</a:t>
            </a:r>
          </a:p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hu-HU" dirty="0">
                <a:latin typeface="Arial Black" panose="020B0A04020102020204" pitchFamily="34" charset="0"/>
              </a:rPr>
              <a:t>Adattáblák kialakítása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hu-HU" sz="1600" dirty="0">
                <a:latin typeface="Arial Black" panose="020B0A04020102020204" pitchFamily="34" charset="0"/>
              </a:rPr>
              <a:t>Hőmérséklet, légnyomás, páratartalom, magasság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hu-HU" sz="1600" dirty="0">
                <a:latin typeface="Arial Black" panose="020B0A04020102020204" pitchFamily="34" charset="0"/>
              </a:rPr>
              <a:t>AQI, ECO2</a:t>
            </a:r>
          </a:p>
        </p:txBody>
      </p:sp>
      <p:pic>
        <p:nvPicPr>
          <p:cNvPr id="3074" name="Picture 2" descr="What is Batch Processing? | BotPenguin">
            <a:extLst>
              <a:ext uri="{FF2B5EF4-FFF2-40B4-BE49-F238E27FC236}">
                <a16:creationId xmlns:a16="http://schemas.microsoft.com/office/drawing/2014/main" id="{ACC45D44-58D7-4565-A8AC-C2F6DB0B8D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34400" y="1185863"/>
            <a:ext cx="2524125" cy="2524125"/>
          </a:xfrm>
          <a:prstGeom prst="rect">
            <a:avLst/>
          </a:prstGeom>
          <a:noFill/>
          <a:effectLst>
            <a:softEdge rad="63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4070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1AD1C67B-8E7B-424B-AF32-22B5AA0D01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>
                <a:solidFill>
                  <a:schemeClr val="bg1"/>
                </a:solidFill>
                <a:latin typeface="Arial Black" panose="020B0A04020102020204" pitchFamily="34" charset="0"/>
              </a:rPr>
              <a:t>Idő és dátum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167CBC41-1E22-4543-BF7B-7EAEC5A285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hu-HU" dirty="0">
                <a:latin typeface="Arial Black" panose="020B0A04020102020204" pitchFamily="34" charset="0"/>
              </a:rPr>
              <a:t>A méréseket időben is el kell helyezni</a:t>
            </a:r>
          </a:p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hu-HU" dirty="0">
                <a:latin typeface="Arial Black" panose="020B0A04020102020204" pitchFamily="34" charset="0"/>
              </a:rPr>
              <a:t>Mi most az idő és dátum ?</a:t>
            </a:r>
          </a:p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hu-HU" dirty="0">
                <a:latin typeface="Arial Black" panose="020B0A04020102020204" pitchFamily="34" charset="0"/>
              </a:rPr>
              <a:t>Az idő és dátum lekérése wifi csatlakozás esetén</a:t>
            </a:r>
          </a:p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hu-HU" dirty="0">
                <a:latin typeface="Arial Black" panose="020B0A04020102020204" pitchFamily="34" charset="0"/>
              </a:rPr>
              <a:t>Mérés ha nincs pontos idő ?</a:t>
            </a:r>
          </a:p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hu-HU" dirty="0">
                <a:latin typeface="Arial Black" panose="020B0A04020102020204" pitchFamily="34" charset="0"/>
              </a:rPr>
              <a:t>Time </a:t>
            </a:r>
            <a:r>
              <a:rPr lang="hu-HU" dirty="0" err="1">
                <a:latin typeface="Arial Black" panose="020B0A04020102020204" pitchFamily="34" charset="0"/>
              </a:rPr>
              <a:t>Drift</a:t>
            </a:r>
            <a:r>
              <a:rPr lang="hu-HU" dirty="0">
                <a:latin typeface="Arial Black" panose="020B0A04020102020204" pitchFamily="34" charset="0"/>
              </a:rPr>
              <a:t> ( idő elcsúszása )</a:t>
            </a:r>
          </a:p>
          <a:p>
            <a:pPr>
              <a:spcBef>
                <a:spcPts val="1200"/>
              </a:spcBef>
              <a:spcAft>
                <a:spcPts val="1200"/>
              </a:spcAft>
            </a:pPr>
            <a:endParaRPr lang="hu-HU" dirty="0">
              <a:latin typeface="Arial Black" panose="020B0A04020102020204" pitchFamily="34" charset="0"/>
            </a:endParaRPr>
          </a:p>
          <a:p>
            <a:pPr>
              <a:spcBef>
                <a:spcPts val="1200"/>
              </a:spcBef>
              <a:spcAft>
                <a:spcPts val="1200"/>
              </a:spcAft>
            </a:pPr>
            <a:endParaRPr lang="hu-HU" dirty="0">
              <a:latin typeface="Arial Black" panose="020B0A04020102020204" pitchFamily="34" charset="0"/>
            </a:endParaRPr>
          </a:p>
          <a:p>
            <a:pPr>
              <a:spcBef>
                <a:spcPts val="1200"/>
              </a:spcBef>
              <a:spcAft>
                <a:spcPts val="1200"/>
              </a:spcAft>
            </a:pPr>
            <a:endParaRPr lang="hu-HU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9692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0738C47B-524A-47AA-87E1-5C2D201916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>
                <a:solidFill>
                  <a:schemeClr val="bg1"/>
                </a:solidFill>
                <a:latin typeface="Arial Black" panose="020B0A04020102020204" pitchFamily="34" charset="0"/>
              </a:rPr>
              <a:t>Alvás - felkeltés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2C3FC8DB-1653-42F2-99BC-2B80950457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762875" cy="4351338"/>
          </a:xfrm>
        </p:spPr>
        <p:txBody>
          <a:bodyPr/>
          <a:lstStyle/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hu-HU" dirty="0">
                <a:latin typeface="Arial Black" panose="020B0A04020102020204" pitchFamily="34" charset="0"/>
              </a:rPr>
              <a:t>A mikrovezérlő altatása mérések között. </a:t>
            </a:r>
          </a:p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hu-HU" dirty="0">
                <a:latin typeface="Arial Black" panose="020B0A04020102020204" pitchFamily="34" charset="0"/>
              </a:rPr>
              <a:t>Miért ?  </a:t>
            </a:r>
            <a:r>
              <a:rPr lang="hu-HU" dirty="0">
                <a:latin typeface="Arial Black" panose="020B0A04020102020204" pitchFamily="34" charset="0"/>
                <a:sym typeface="Wingdings" panose="05000000000000000000" pitchFamily="2" charset="2"/>
              </a:rPr>
              <a:t> Akkumulátorról működtetés.</a:t>
            </a:r>
          </a:p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hu-HU" dirty="0">
                <a:latin typeface="Arial Black" panose="020B0A04020102020204" pitchFamily="34" charset="0"/>
                <a:sym typeface="Wingdings" panose="05000000000000000000" pitchFamily="2" charset="2"/>
              </a:rPr>
              <a:t>Felkeltés adott idő múlva RTC használatával</a:t>
            </a:r>
          </a:p>
        </p:txBody>
      </p:sp>
    </p:spTree>
    <p:extLst>
      <p:ext uri="{BB962C8B-B14F-4D97-AF65-F5344CB8AC3E}">
        <p14:creationId xmlns:p14="http://schemas.microsoft.com/office/powerpoint/2010/main" val="26982351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256</TotalTime>
  <Words>178</Words>
  <Application>Microsoft Office PowerPoint</Application>
  <PresentationFormat>Szélesvásznú</PresentationFormat>
  <Paragraphs>45</Paragraphs>
  <Slides>7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5</vt:i4>
      </vt:variant>
      <vt:variant>
        <vt:lpstr>Téma</vt:lpstr>
      </vt:variant>
      <vt:variant>
        <vt:i4>1</vt:i4>
      </vt:variant>
      <vt:variant>
        <vt:lpstr>Diacímek</vt:lpstr>
      </vt:variant>
      <vt:variant>
        <vt:i4>7</vt:i4>
      </vt:variant>
    </vt:vector>
  </HeadingPairs>
  <TitlesOfParts>
    <vt:vector size="13" baseType="lpstr">
      <vt:lpstr>Arial</vt:lpstr>
      <vt:lpstr>Arial Black</vt:lpstr>
      <vt:lpstr>Calibri</vt:lpstr>
      <vt:lpstr>Calibri Light</vt:lpstr>
      <vt:lpstr>Wingdings</vt:lpstr>
      <vt:lpstr>Office-téma</vt:lpstr>
      <vt:lpstr>Projekt feladat</vt:lpstr>
      <vt:lpstr>Mérő állomás elemei</vt:lpstr>
      <vt:lpstr>Állomás feladatai</vt:lpstr>
      <vt:lpstr>Szenzor olvasás és adattárolás</vt:lpstr>
      <vt:lpstr>Wifi és adatküldés</vt:lpstr>
      <vt:lpstr>Idő és dátum</vt:lpstr>
      <vt:lpstr>Alvás - felkeltés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Projekt feladat</dc:title>
  <dc:creator>User</dc:creator>
  <cp:lastModifiedBy>User</cp:lastModifiedBy>
  <cp:revision>20</cp:revision>
  <dcterms:created xsi:type="dcterms:W3CDTF">2026-04-28T20:46:06Z</dcterms:created>
  <dcterms:modified xsi:type="dcterms:W3CDTF">2026-04-29T19:13:45Z</dcterms:modified>
</cp:coreProperties>
</file>