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5" r:id="rId12"/>
    <p:sldId id="266" r:id="rId13"/>
    <p:sldId id="268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059164-FE24-4030-8C1C-962F2D049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1E2C12A-75E1-4F72-B825-FA90345C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FF3D42E-4CD1-44E8-A3A3-971EBE77D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3067A6-3263-4809-885E-99DDC2864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0503245-635B-48FB-93B7-8F0D748AD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6100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C4B6EF-627A-4848-932D-26CE1C67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804CCE-0884-4441-B4CF-8E0ECC4BFD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C50E3B7-A3E4-4E6A-B89F-155886BA2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198A898-3FAC-4C25-8757-8D3141579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61E1856-AA48-4421-ABBD-C91CE3254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7656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D1AA12-A097-463A-9815-3DB8BCED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D73B045-0139-472D-A40E-5CCDF7C994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A848891-7863-4018-81BB-4C0E5D048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CC3FF87-1044-4B1D-99D4-09C418FA9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3254D2F-01FA-456F-B0D8-6A5A0B94E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86136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641372-386E-4009-AE3B-94AB2B8EE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D90E304-E360-4F4E-93AE-DA316EB59E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1C16492-856D-4B1C-B46B-028A257DAD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C75223A-3D74-4806-882E-C840B9A26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47EB7D8-6C1F-477E-9BAC-561E28ACD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89DB5772-9211-4C5A-86D2-56CE05530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6279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66B3DC-9C40-415F-B1CA-867B582A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A199E62-E9CB-4458-818B-2F5C737C0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2FC994A-EE43-4BDC-B6EA-AF7B4729D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1D27C4E-1355-450E-BF46-B21636E36D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2269748-D1C7-460B-A605-DD5480FD61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5CA048D-8E38-486E-A914-E9944EF7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7928E8C0-BCCD-4CFD-9380-934507032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3543184D-FA28-48F4-A830-126D1936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9068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42180AC-A050-4B7C-85DE-DD260A76E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DE66B69-3712-49AC-BF45-9DE9B8149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2298AA4F-E43A-428D-94F7-B78892F0E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645411D-0706-4FC2-9C3F-7C34D8CDE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09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5D6AEA47-340D-4ECD-984F-3D689ADE6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9138220-014A-4EB3-BAF4-549C32729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31A0CF68-DC72-4642-8A50-0E48A8D58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43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8B49832-66FA-477E-B8FB-70A7A0256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2ABBCC-3AC3-40EC-ADE8-14F1E6B3C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259EAD0-6BAC-4F85-9DCF-3633DB50F3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BFF53DF-4106-46E9-91D4-10B376F1E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4CFD111-42E2-466F-8356-A6D1C1333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82E1FDE-9F0B-4EF9-BDC2-26A932096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6120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EFA3599-C631-417D-AF70-DC7F7A59D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5B89283-1FBF-47CF-B7DF-5F896951B3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C293776-4D2A-4CCD-A8C6-80BD28E5BE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0B7532F-9D2D-40EC-9576-D2B91895F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B1433F0-0517-4EFD-BEEF-3E99A5E5E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688B2C4-C5AA-453F-977B-AE0A81A6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7725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3DBA8A7-96B1-4B48-81C3-CECA7747C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C62B423-D2CF-41D9-B6D2-A5CB32D08B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6F27337-0288-44C8-9D69-A43517C59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C2CAE2F-7CF1-467F-8FCE-40A69EB5F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399977-2EE1-4AF9-A139-10BB551BF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79925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187BA6D4-04B6-4A9C-B8A1-A719AF2CFB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83B0F73-BEFB-47AC-8294-52C71D429A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E425F50-2FB4-4A30-BCA7-A18ADE870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0E4A74-FA63-4CAB-8794-2D2EE657E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723F81-5ED0-465D-BE7E-D6F42D557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46852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48BE3607-45F9-45DD-B686-A3CB46288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E000169-F466-49AF-9DA8-D1584D016E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286D758-2ECE-4123-B26A-766906BD5F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4D9DE3-5E6C-4223-B6F3-D47F9A707926}" type="datetimeFigureOut">
              <a:rPr lang="hu-HU" smtClean="0"/>
              <a:t>2026.05.20.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1C16234-3E7F-47B3-835B-1506DD47B0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E829293-FB09-4BBF-9A02-1335F081A1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FD6CC2-1C77-44BD-A41E-2E20DB18D6D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3660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g"/><Relationship Id="rId3" Type="http://schemas.openxmlformats.org/officeDocument/2006/relationships/image" Target="../media/image15.jpg"/><Relationship Id="rId7" Type="http://schemas.openxmlformats.org/officeDocument/2006/relationships/image" Target="../media/image19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FF7ED7-5743-4661-8837-3E9E6AE0A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b="1" dirty="0">
                <a:latin typeface="Arial Black" panose="020B0A04020102020204" pitchFamily="34" charset="0"/>
              </a:rPr>
              <a:t>Projekt 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BCF9E9C-5E45-4494-A794-28ACC64BA2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hu-HU" sz="2800" b="1" dirty="0">
              <a:latin typeface="Arial Black" panose="020B0A04020102020204" pitchFamily="34" charset="0"/>
            </a:endParaRPr>
          </a:p>
          <a:p>
            <a:r>
              <a:rPr lang="hu-HU" sz="2800" b="1" dirty="0">
                <a:latin typeface="Arial Black" panose="020B0A04020102020204" pitchFamily="34" charset="0"/>
              </a:rPr>
              <a:t>Miniatűr időjárás állomás</a:t>
            </a:r>
          </a:p>
        </p:txBody>
      </p:sp>
    </p:spTree>
    <p:extLst>
      <p:ext uri="{BB962C8B-B14F-4D97-AF65-F5344CB8AC3E}">
        <p14:creationId xmlns:p14="http://schemas.microsoft.com/office/powerpoint/2010/main" val="3226253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2E8F1C-9DF1-4F18-9126-865757202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3600" b="1" dirty="0">
                <a:solidFill>
                  <a:schemeClr val="bg1"/>
                </a:solidFill>
                <a:latin typeface="Arial Black" panose="020B0A04020102020204" pitchFamily="34" charset="0"/>
              </a:rPr>
              <a:t>Mérő állomás elemei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A053D5-43AD-4737-B865-D08DA99BDE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hu-HU" sz="2400" b="1" dirty="0">
                <a:latin typeface="Arial Black" panose="020B0A04020102020204" pitchFamily="34" charset="0"/>
              </a:rPr>
              <a:t>A mérőállomás egyszerű alkatrészekből áll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MCU (EPS32-S2-MINI)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Szenzorok (BMP280, ENS160, EHT21, GY-301)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Szalagkábelek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Próbapanel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Ellenállások, kondenzátorok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Kijelző, gombok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sz="2400" b="1" dirty="0">
              <a:latin typeface="Arial Black" panose="020B0A04020102020204" pitchFamily="34" charset="0"/>
            </a:endParaRPr>
          </a:p>
        </p:txBody>
      </p:sp>
      <p:pic>
        <p:nvPicPr>
          <p:cNvPr id="2050" name="Picture 2" descr="ENS160+AHT21-M / Levegőminőség, hőmérséklet és páratartalom érzékelő modul, CO2, eCO2, TVOC, AQL">
            <a:extLst>
              <a:ext uri="{FF2B5EF4-FFF2-40B4-BE49-F238E27FC236}">
                <a16:creationId xmlns:a16="http://schemas.microsoft.com/office/drawing/2014/main" id="{3B20B302-1703-4588-9FA5-B6C944958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2000" y="3546237"/>
            <a:ext cx="955675" cy="955675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ESP32-S2-MINI-PSRAM / ESP32-S2FN4R2 alapú fejlesztő panel PSRAM-mal, USB-C, Xtensa® Single-Core 32-bit LX7, 240MHz">
            <a:extLst>
              <a:ext uri="{FF2B5EF4-FFF2-40B4-BE49-F238E27FC236}">
                <a16:creationId xmlns:a16="http://schemas.microsoft.com/office/drawing/2014/main" id="{C09C9DCE-91FC-4D1D-A6FB-CB813A4D5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9390" y="1204357"/>
            <a:ext cx="2095500" cy="2095500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BMP280-M / BMP280 hőmérséklet, légnyomás és magasság mérő modul (GY-BMP280-3.3)">
            <a:extLst>
              <a:ext uri="{FF2B5EF4-FFF2-40B4-BE49-F238E27FC236}">
                <a16:creationId xmlns:a16="http://schemas.microsoft.com/office/drawing/2014/main" id="{42B7AB58-D830-4597-B7B6-1AF7D9844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4444" y="5315585"/>
            <a:ext cx="1245393" cy="996315"/>
          </a:xfrm>
          <a:prstGeom prst="rect">
            <a:avLst/>
          </a:prstGeom>
          <a:noFill/>
          <a:effectLst>
            <a:softEdge rad="889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Y-302 / BH1750 alapú környezeti fényérzékelő modul">
            <a:extLst>
              <a:ext uri="{FF2B5EF4-FFF2-40B4-BE49-F238E27FC236}">
                <a16:creationId xmlns:a16="http://schemas.microsoft.com/office/drawing/2014/main" id="{F305BAF9-B459-44EF-A069-A640E28ED7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097" y="5064920"/>
            <a:ext cx="1179512" cy="1179512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BB-170SW / Próbapanel 170p, ében fekete">
            <a:extLst>
              <a:ext uri="{FF2B5EF4-FFF2-40B4-BE49-F238E27FC236}">
                <a16:creationId xmlns:a16="http://schemas.microsoft.com/office/drawing/2014/main" id="{F7166ACC-6B0B-4848-A18D-7FBCE1D8E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739" y="3558143"/>
            <a:ext cx="1179512" cy="884634"/>
          </a:xfrm>
          <a:prstGeom prst="rect">
            <a:avLst/>
          </a:prstGeom>
          <a:noFill/>
          <a:effectLst>
            <a:softEdge rad="381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D096-12864-SPI7 / 0.96in 128x64 OLED, SPI interfész 7P, SSD1306">
            <a:extLst>
              <a:ext uri="{FF2B5EF4-FFF2-40B4-BE49-F238E27FC236}">
                <a16:creationId xmlns:a16="http://schemas.microsoft.com/office/drawing/2014/main" id="{97484E6E-6F5B-411D-98BF-F3A56EC05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597" y="3901274"/>
            <a:ext cx="1179512" cy="1083006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4592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9DAFD88-C4EE-451F-9072-AF08B74AB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Használt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8EA1836-9275-4F9A-B38E-AFCDE699B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ESP-IDF</a:t>
            </a:r>
          </a:p>
          <a:p>
            <a:pPr lvl="1"/>
            <a:r>
              <a:rPr lang="hu-HU" dirty="0">
                <a:latin typeface="Arial Black" panose="020B0A04020102020204" pitchFamily="34" charset="0"/>
              </a:rPr>
              <a:t>ESP fejlesztői környezet</a:t>
            </a:r>
          </a:p>
          <a:p>
            <a:pPr lvl="1"/>
            <a:r>
              <a:rPr lang="hu-HU" dirty="0">
                <a:latin typeface="Arial Black" panose="020B0A04020102020204" pitchFamily="34" charset="0"/>
              </a:rPr>
              <a:t>Alkalmazás vagy VS </a:t>
            </a:r>
            <a:r>
              <a:rPr lang="hu-HU" dirty="0" err="1">
                <a:latin typeface="Arial Black" panose="020B0A04020102020204" pitchFamily="34" charset="0"/>
              </a:rPr>
              <a:t>Code</a:t>
            </a:r>
            <a:r>
              <a:rPr lang="hu-HU" dirty="0">
                <a:latin typeface="Arial Black" panose="020B0A04020102020204" pitchFamily="34" charset="0"/>
              </a:rPr>
              <a:t> bővítmény</a:t>
            </a:r>
          </a:p>
          <a:p>
            <a:r>
              <a:rPr lang="hu-HU" dirty="0">
                <a:latin typeface="Arial Black" panose="020B0A04020102020204" pitchFamily="34" charset="0"/>
              </a:rPr>
              <a:t>VS </a:t>
            </a:r>
            <a:r>
              <a:rPr lang="hu-HU" dirty="0" err="1">
                <a:latin typeface="Arial Black" panose="020B0A04020102020204" pitchFamily="34" charset="0"/>
              </a:rPr>
              <a:t>Code</a:t>
            </a:r>
            <a:endParaRPr lang="hu-HU" dirty="0">
              <a:latin typeface="Arial Black" panose="020B0A04020102020204" pitchFamily="34" charset="0"/>
            </a:endParaRPr>
          </a:p>
          <a:p>
            <a:pPr lvl="1"/>
            <a:r>
              <a:rPr lang="hu-HU" dirty="0">
                <a:latin typeface="Arial Black" panose="020B0A04020102020204" pitchFamily="34" charset="0"/>
              </a:rPr>
              <a:t>Program szerkesztés</a:t>
            </a:r>
          </a:p>
          <a:p>
            <a:r>
              <a:rPr lang="hu-HU" dirty="0" err="1">
                <a:latin typeface="Arial Black" panose="020B0A04020102020204" pitchFamily="34" charset="0"/>
              </a:rPr>
              <a:t>Supabase</a:t>
            </a:r>
            <a:endParaRPr lang="hu-HU" dirty="0">
              <a:latin typeface="Arial Black" panose="020B0A04020102020204" pitchFamily="34" charset="0"/>
            </a:endParaRPr>
          </a:p>
          <a:p>
            <a:pPr lvl="1"/>
            <a:r>
              <a:rPr lang="hu-HU" dirty="0">
                <a:latin typeface="Arial Black" panose="020B0A04020102020204" pitchFamily="34" charset="0"/>
              </a:rPr>
              <a:t>Online adatbázis</a:t>
            </a:r>
          </a:p>
        </p:txBody>
      </p:sp>
      <p:pic>
        <p:nvPicPr>
          <p:cNvPr id="1026" name="Picture 2" descr="Getting Started With ESP-IDF | Set Up Espressif IDE – RoboticWorx">
            <a:extLst>
              <a:ext uri="{FF2B5EF4-FFF2-40B4-BE49-F238E27FC236}">
                <a16:creationId xmlns:a16="http://schemas.microsoft.com/office/drawing/2014/main" id="{E99DB11A-8850-412C-B4EE-A36F0F48E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1332708"/>
            <a:ext cx="2046092" cy="1471612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Visual Studio Code használata 2. rész">
            <a:extLst>
              <a:ext uri="{FF2B5EF4-FFF2-40B4-BE49-F238E27FC236}">
                <a16:creationId xmlns:a16="http://schemas.microsoft.com/office/drawing/2014/main" id="{0A4C2EAE-3980-4EED-BC11-CF2201FC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264" y="3297237"/>
            <a:ext cx="2124075" cy="212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eploy Supabase">
            <a:extLst>
              <a:ext uri="{FF2B5EF4-FFF2-40B4-BE49-F238E27FC236}">
                <a16:creationId xmlns:a16="http://schemas.microsoft.com/office/drawing/2014/main" id="{95048B5D-A32F-4898-AEA9-14E998460E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6467" y="4492625"/>
            <a:ext cx="2000250" cy="2000250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27554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AB11D9-507F-4045-A738-489D2885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3600" b="1" dirty="0">
                <a:solidFill>
                  <a:schemeClr val="bg1"/>
                </a:solidFill>
                <a:latin typeface="Arial Black" panose="020B0A04020102020204" pitchFamily="34" charset="0"/>
              </a:rPr>
              <a:t>Állomás feladatai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A2C9956-E38F-4DBE-95D9-5A25D3AD0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Szenzor értékek olvasása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Értékek tárolása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Internet elérése (Wifi)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Adatküldés (</a:t>
            </a:r>
            <a:r>
              <a:rPr lang="hu-HU" dirty="0" err="1">
                <a:latin typeface="Arial Black" panose="020B0A04020102020204" pitchFamily="34" charset="0"/>
              </a:rPr>
              <a:t>Supabase</a:t>
            </a:r>
            <a:r>
              <a:rPr lang="hu-HU" dirty="0">
                <a:latin typeface="Arial Black" panose="020B0A04020102020204" pitchFamily="34" charset="0"/>
              </a:rPr>
              <a:t> adatbázis)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Idő és dátum nyilvántartása (NTP-SNTP, RTC)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Alvás – felkeltés (Deep </a:t>
            </a:r>
            <a:r>
              <a:rPr lang="hu-HU" dirty="0" err="1">
                <a:latin typeface="Arial Black" panose="020B0A04020102020204" pitchFamily="34" charset="0"/>
              </a:rPr>
              <a:t>sleep</a:t>
            </a:r>
            <a:r>
              <a:rPr lang="hu-HU" dirty="0">
                <a:latin typeface="Arial Black" panose="020B0A04020102020204" pitchFamily="34" charset="0"/>
              </a:rPr>
              <a:t> </a:t>
            </a:r>
            <a:r>
              <a:rPr lang="hu-HU" dirty="0" err="1">
                <a:latin typeface="Arial Black" panose="020B0A04020102020204" pitchFamily="34" charset="0"/>
              </a:rPr>
              <a:t>mode</a:t>
            </a:r>
            <a:r>
              <a:rPr lang="hu-HU" dirty="0">
                <a:latin typeface="Arial Black" panose="020B0A04020102020204" pitchFamily="34" charset="0"/>
              </a:rPr>
              <a:t>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193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47E1FEA-09C4-48D4-98E8-083533A2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Arial Black" panose="020B0A04020102020204" pitchFamily="34" charset="0"/>
              </a:rPr>
              <a:t>Szenzor olvasás és adattárolás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770578-1B36-4752-92F5-E97D5EA732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257800" cy="4351338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I2C kapcsolat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Mérések frekvenciája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Nyers adatok kiolvasása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Konverzió</a:t>
            </a:r>
          </a:p>
        </p:txBody>
      </p:sp>
      <p:sp>
        <p:nvSpPr>
          <p:cNvPr id="4" name="Tartalom helye 2">
            <a:extLst>
              <a:ext uri="{FF2B5EF4-FFF2-40B4-BE49-F238E27FC236}">
                <a16:creationId xmlns:a16="http://schemas.microsoft.com/office/drawing/2014/main" id="{AFDF231D-BA45-47B6-83F3-FB0329B70BA3}"/>
              </a:ext>
            </a:extLst>
          </p:cNvPr>
          <p:cNvSpPr txBox="1">
            <a:spLocks/>
          </p:cNvSpPr>
          <p:nvPr/>
        </p:nvSpPr>
        <p:spPr>
          <a:xfrm>
            <a:off x="6200775" y="1690688"/>
            <a:ext cx="536257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Adatok </a:t>
            </a:r>
            <a:r>
              <a:rPr lang="hu-HU" b="1" dirty="0" err="1">
                <a:latin typeface="Arial Black" panose="020B0A04020102020204" pitchFamily="34" charset="0"/>
              </a:rPr>
              <a:t>validálása</a:t>
            </a:r>
            <a:endParaRPr lang="hu-HU" b="1" dirty="0">
              <a:latin typeface="Arial Black" panose="020B0A04020102020204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Tárolásra alkalmas struktúra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Belső tárhely használata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b="1" dirty="0">
                <a:latin typeface="Arial Black" panose="020B0A04020102020204" pitchFamily="34" charset="0"/>
              </a:rPr>
              <a:t>Adatok tárolása, visszanyerése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720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525451-4D2B-493F-9E30-250E9F684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3600" dirty="0">
                <a:solidFill>
                  <a:schemeClr val="bg1"/>
                </a:solidFill>
                <a:latin typeface="Arial Black" panose="020B0A04020102020204" pitchFamily="34" charset="0"/>
              </a:rPr>
              <a:t>Wifi és adatküldés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94DFEF-B11B-4585-BF7F-67BA9D36B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924800" cy="4351338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 beépített Wifi használata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Csatlakozás Wifihez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 err="1">
                <a:latin typeface="Arial Black" panose="020B0A04020102020204" pitchFamily="34" charset="0"/>
              </a:rPr>
              <a:t>Batchbekben</a:t>
            </a:r>
            <a:r>
              <a:rPr lang="hu-HU" dirty="0">
                <a:latin typeface="Arial Black" panose="020B0A04020102020204" pitchFamily="34" charset="0"/>
              </a:rPr>
              <a:t> történő küldés az adatbázis felé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Adattáblák kialakítása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hu-HU" sz="1600" dirty="0">
                <a:latin typeface="Arial Black" panose="020B0A04020102020204" pitchFamily="34" charset="0"/>
              </a:rPr>
              <a:t>Hőmérséklet, légnyomás, páratartalom, magasság, időbélyeg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hu-HU" sz="1600" dirty="0">
                <a:latin typeface="Arial Black" panose="020B0A04020102020204" pitchFamily="34" charset="0"/>
              </a:rPr>
              <a:t>AQI, ECO2</a:t>
            </a:r>
          </a:p>
        </p:txBody>
      </p:sp>
      <p:pic>
        <p:nvPicPr>
          <p:cNvPr id="3074" name="Picture 2" descr="What is Batch Processing? | BotPenguin">
            <a:extLst>
              <a:ext uri="{FF2B5EF4-FFF2-40B4-BE49-F238E27FC236}">
                <a16:creationId xmlns:a16="http://schemas.microsoft.com/office/drawing/2014/main" id="{ACC45D44-58D7-4565-A8AC-C2F6DB0B8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4400" y="1185863"/>
            <a:ext cx="2524125" cy="2524125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07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AD1C67B-8E7B-424B-AF32-22B5AA0D0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Idő és dátum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67CBC41-1E22-4543-BF7B-7EAEC5A28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 méréseket időben is el kell helyezni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Most mennyi az idő és mi a dátum ?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Az idő és dátum lekérése wifi csatlakozás esetén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Mérés ha nincs pontos idő ?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Time </a:t>
            </a:r>
            <a:r>
              <a:rPr lang="hu-HU" dirty="0" err="1">
                <a:latin typeface="Arial Black" panose="020B0A04020102020204" pitchFamily="34" charset="0"/>
              </a:rPr>
              <a:t>Drift</a:t>
            </a:r>
            <a:r>
              <a:rPr lang="hu-HU" dirty="0">
                <a:latin typeface="Arial Black" panose="020B0A04020102020204" pitchFamily="34" charset="0"/>
              </a:rPr>
              <a:t> ( idő elcsúszása )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dirty="0">
              <a:latin typeface="Arial Black" panose="020B0A04020102020204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dirty="0">
              <a:latin typeface="Arial Black" panose="020B0A04020102020204" pitchFamily="34" charset="0"/>
            </a:endParaRPr>
          </a:p>
          <a:p>
            <a:pPr>
              <a:spcBef>
                <a:spcPts val="1200"/>
              </a:spcBef>
              <a:spcAft>
                <a:spcPts val="1200"/>
              </a:spcAft>
            </a:pPr>
            <a:endParaRPr lang="hu-HU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69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38C47B-524A-47AA-87E1-5C2D20191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Alvás - felkeltés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C3FC8DB-1653-42F2-99BC-2B80950457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67650" cy="4351338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A mikrovezérlő altatása mérések között.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</a:rPr>
              <a:t>Miért ?  </a:t>
            </a:r>
            <a:r>
              <a:rPr lang="hu-HU" dirty="0">
                <a:latin typeface="Arial Black" panose="020B0A04020102020204" pitchFamily="34" charset="0"/>
                <a:sym typeface="Wingdings" panose="05000000000000000000" pitchFamily="2" charset="2"/>
              </a:rPr>
              <a:t> Akkumulátorról működtetés.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hu-HU" dirty="0">
                <a:latin typeface="Arial Black" panose="020B0A04020102020204" pitchFamily="34" charset="0"/>
                <a:sym typeface="Wingdings" panose="05000000000000000000" pitchFamily="2" charset="2"/>
              </a:rPr>
              <a:t>Felkeltés adott idő múlva RTC használatával</a:t>
            </a:r>
          </a:p>
        </p:txBody>
      </p:sp>
    </p:spTree>
    <p:extLst>
      <p:ext uri="{BB962C8B-B14F-4D97-AF65-F5344CB8AC3E}">
        <p14:creationId xmlns:p14="http://schemas.microsoft.com/office/powerpoint/2010/main" val="2698235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6A8FA0-6834-49F2-A622-AA9AF35A1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Adatok megtekintése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25EEC3B-25A7-4DCA-8127-C588DDD76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>
                <a:latin typeface="Arial Black" panose="020B0A04020102020204" pitchFamily="34" charset="0"/>
              </a:rPr>
              <a:t>Egyszerű weboldal az adatok megtekintésére</a:t>
            </a:r>
          </a:p>
          <a:p>
            <a:endParaRPr lang="hu-HU" b="1" dirty="0">
              <a:latin typeface="Arial Black" panose="020B0A04020102020204" pitchFamily="34" charset="0"/>
            </a:endParaRP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BF64EDA1-393E-4B4F-A1AC-838C1E5AE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" y="2391573"/>
            <a:ext cx="5462667" cy="2734202"/>
          </a:xfrm>
          <a:prstGeom prst="rect">
            <a:avLst/>
          </a:prstGeom>
          <a:effectLst>
            <a:softEdge rad="762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7429923D-01B8-413F-89C3-9DCFFFC2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275" y="3849162"/>
            <a:ext cx="5940860" cy="255322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8595605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801D771-B323-4343-9695-C6BE8B6A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Adatok megtekintése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3BE610-317C-4CEC-8BEF-F4A5F164E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220075" cy="4351338"/>
          </a:xfrm>
        </p:spPr>
        <p:txBody>
          <a:bodyPr/>
          <a:lstStyle/>
          <a:p>
            <a:r>
              <a:rPr lang="hu-HU" dirty="0">
                <a:latin typeface="Arial Black" panose="020B0A04020102020204" pitchFamily="34" charset="0"/>
              </a:rPr>
              <a:t>OLED kijelzőn egyedi képernyők a mért értékek kijelzésére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0CD1825-D35C-4CF8-86DA-9F684C1FF1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793" y="3429000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E2338BC7-8572-484A-9A1E-11CFFF33FC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2793" y="4693448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9C91BA8-1E8D-4D74-8E5F-670B62E168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47" y="3413516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5C9F142-CE02-4D1C-948A-029248BF1B4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1947" y="4689878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60FCA0C9-B9D2-4522-A099-E68F409AFF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1101" y="4107858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755A2CB6-88B5-48B3-AFC7-1D9E994D21C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3429000"/>
            <a:ext cx="2872293" cy="1325563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D2A29036-AF97-4727-AC0C-D2CE37367C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4693447"/>
            <a:ext cx="2872293" cy="1325563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935078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D3F82C-C220-4ABC-9B8B-68C83460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Tartó keret tervezése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197BF70A-D112-4C1D-872A-68BBBF7B6C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858" y="3459954"/>
            <a:ext cx="3766658" cy="1738313"/>
          </a:xfrm>
          <a:effectLst>
            <a:softEdge rad="63500"/>
          </a:effectLst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5E9C758F-C587-4AB8-B688-B65AE86BDC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63" y="2348867"/>
            <a:ext cx="4435054" cy="3955725"/>
          </a:xfrm>
          <a:prstGeom prst="rect">
            <a:avLst/>
          </a:prstGeom>
          <a:effectLst>
            <a:softEdge rad="63500"/>
          </a:effectLst>
        </p:spPr>
      </p:pic>
      <p:sp>
        <p:nvSpPr>
          <p:cNvPr id="11" name="Nyíl: jobbra mutató 10">
            <a:extLst>
              <a:ext uri="{FF2B5EF4-FFF2-40B4-BE49-F238E27FC236}">
                <a16:creationId xmlns:a16="http://schemas.microsoft.com/office/drawing/2014/main" id="{B07930C4-4152-4782-8282-D40B1B07D156}"/>
              </a:ext>
            </a:extLst>
          </p:cNvPr>
          <p:cNvSpPr/>
          <p:nvPr/>
        </p:nvSpPr>
        <p:spPr>
          <a:xfrm>
            <a:off x="5085527" y="3907629"/>
            <a:ext cx="1533525" cy="8382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9507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CBC14E-C2FF-4705-8C9D-EF5A9531B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 Black" panose="020B0A04020102020204" pitchFamily="34" charset="0"/>
              </a:rPr>
              <a:t>Nem megvalósult ötletek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C95C0B7-E740-4287-8865-B2FD424A0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A keret tényleges kinyomtatása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hu-HU" sz="2000" b="1" dirty="0">
                <a:latin typeface="Arial Black" panose="020B0A04020102020204" pitchFamily="34" charset="0"/>
              </a:rPr>
              <a:t>3D nyomtatóval kinyomtatni és össze szerelni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Gomb sor extra funkciókkal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hu-HU" sz="2000" b="1" dirty="0">
                <a:latin typeface="Arial Black" panose="020B0A04020102020204" pitchFamily="34" charset="0"/>
              </a:rPr>
              <a:t>Extra funkciók hozzáadása (Beállítási lehetőségek, azonnali mérés stb.)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Külön webszerver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hu-HU" sz="2000" b="1" dirty="0">
                <a:latin typeface="Arial Black" panose="020B0A04020102020204" pitchFamily="34" charset="0"/>
              </a:rPr>
              <a:t>ESP32 S3 </a:t>
            </a:r>
            <a:r>
              <a:rPr lang="hu-HU" sz="2000" b="1" dirty="0" err="1">
                <a:latin typeface="Arial Black" panose="020B0A04020102020204" pitchFamily="34" charset="0"/>
              </a:rPr>
              <a:t>Devkit</a:t>
            </a:r>
            <a:r>
              <a:rPr lang="hu-HU" sz="2000" b="1" dirty="0">
                <a:latin typeface="Arial Black" panose="020B0A04020102020204" pitchFamily="34" charset="0"/>
              </a:rPr>
              <a:t> segítségével egy saját kis webszerveren futtatni a weboldalt.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hu-HU" sz="2400" b="1" dirty="0">
                <a:latin typeface="Arial Black" panose="020B0A04020102020204" pitchFamily="34" charset="0"/>
              </a:rPr>
              <a:t>Adatok alapján előre jelzés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endParaRPr lang="hu-HU" sz="2000" b="1" dirty="0">
              <a:latin typeface="Arial Black" panose="020B0A04020102020204" pitchFamily="34" charset="0"/>
            </a:endParaRPr>
          </a:p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endParaRPr lang="hu-HU" sz="24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304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6469646-26F7-4751-929B-858BDD220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6562" y="2766218"/>
            <a:ext cx="6238875" cy="1325563"/>
          </a:xfrm>
        </p:spPr>
        <p:txBody>
          <a:bodyPr/>
          <a:lstStyle/>
          <a:p>
            <a:pPr algn="ctr"/>
            <a:r>
              <a:rPr lang="hu-HU" dirty="0">
                <a:solidFill>
                  <a:schemeClr val="tx1">
                    <a:lumMod val="95000"/>
                    <a:lumOff val="5000"/>
                  </a:schemeClr>
                </a:solidFill>
                <a:latin typeface="Arial Black" panose="020B0A04020102020204" pitchFamily="34" charset="0"/>
              </a:rPr>
              <a:t>Köszönjük a figyelmet</a:t>
            </a:r>
          </a:p>
        </p:txBody>
      </p:sp>
    </p:spTree>
    <p:extLst>
      <p:ext uri="{BB962C8B-B14F-4D97-AF65-F5344CB8AC3E}">
        <p14:creationId xmlns:p14="http://schemas.microsoft.com/office/powerpoint/2010/main" val="3700418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269</Words>
  <Application>Microsoft Office PowerPoint</Application>
  <PresentationFormat>Szélesvásznú</PresentationFormat>
  <Paragraphs>67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9" baseType="lpstr">
      <vt:lpstr>Arial</vt:lpstr>
      <vt:lpstr>Arial Black</vt:lpstr>
      <vt:lpstr>Calibri</vt:lpstr>
      <vt:lpstr>Calibri Light</vt:lpstr>
      <vt:lpstr>Wingdings</vt:lpstr>
      <vt:lpstr>Office-téma</vt:lpstr>
      <vt:lpstr>Projekt feladat</vt:lpstr>
      <vt:lpstr>Mérő állomás elemei</vt:lpstr>
      <vt:lpstr>Használt technológiák</vt:lpstr>
      <vt:lpstr>Állomás feladatai</vt:lpstr>
      <vt:lpstr>Szenzor olvasás és adattárolás</vt:lpstr>
      <vt:lpstr>Wifi és adatküldés</vt:lpstr>
      <vt:lpstr>Idő és dátum</vt:lpstr>
      <vt:lpstr>Alvás - felkeltés</vt:lpstr>
      <vt:lpstr>Adatok megtekintése</vt:lpstr>
      <vt:lpstr>Adatok megtekintése</vt:lpstr>
      <vt:lpstr>Tartó keret tervezése</vt:lpstr>
      <vt:lpstr>Nem megvalósult ötletek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 feladat</dc:title>
  <dc:creator>User</dc:creator>
  <cp:lastModifiedBy>User</cp:lastModifiedBy>
  <cp:revision>33</cp:revision>
  <dcterms:created xsi:type="dcterms:W3CDTF">2026-04-28T20:46:06Z</dcterms:created>
  <dcterms:modified xsi:type="dcterms:W3CDTF">2026-05-20T21:00:14Z</dcterms:modified>
</cp:coreProperties>
</file>